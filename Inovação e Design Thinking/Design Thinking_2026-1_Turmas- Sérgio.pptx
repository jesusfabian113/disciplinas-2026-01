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59" r:id="rId5"/>
    <p:sldId id="260" r:id="rId6"/>
    <p:sldId id="261" r:id="rId7"/>
    <p:sldId id="300" r:id="rId8"/>
    <p:sldId id="267" r:id="rId9"/>
    <p:sldId id="269" r:id="rId10"/>
    <p:sldId id="271" r:id="rId11"/>
    <p:sldId id="270" r:id="rId12"/>
    <p:sldId id="281" r:id="rId13"/>
    <p:sldId id="272" r:id="rId14"/>
    <p:sldId id="273" r:id="rId15"/>
    <p:sldId id="274" r:id="rId16"/>
    <p:sldId id="293" r:id="rId17"/>
    <p:sldId id="289" r:id="rId18"/>
    <p:sldId id="290" r:id="rId19"/>
    <p:sldId id="301" r:id="rId20"/>
    <p:sldId id="302" r:id="rId21"/>
    <p:sldId id="295" r:id="rId22"/>
    <p:sldId id="296" r:id="rId23"/>
    <p:sldId id="297" r:id="rId24"/>
    <p:sldId id="298" r:id="rId25"/>
    <p:sldId id="303" r:id="rId2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85DE-0381-4343-8420-5DB90630FAD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93732-2EB2-40ED-9783-25AAAB1B9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48337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85DE-0381-4343-8420-5DB90630FAD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93732-2EB2-40ED-9783-25AAAB1B9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409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85DE-0381-4343-8420-5DB90630FAD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93732-2EB2-40ED-9783-25AAAB1B9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71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85DE-0381-4343-8420-5DB90630FAD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93732-2EB2-40ED-9783-25AAAB1B9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3854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85DE-0381-4343-8420-5DB90630FAD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93732-2EB2-40ED-9783-25AAAB1B9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7209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85DE-0381-4343-8420-5DB90630FAD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93732-2EB2-40ED-9783-25AAAB1B9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640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85DE-0381-4343-8420-5DB90630FAD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93732-2EB2-40ED-9783-25AAAB1B9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6115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85DE-0381-4343-8420-5DB90630FAD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93732-2EB2-40ED-9783-25AAAB1B9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5426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85DE-0381-4343-8420-5DB90630FAD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93732-2EB2-40ED-9783-25AAAB1B9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9854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85DE-0381-4343-8420-5DB90630FAD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93732-2EB2-40ED-9783-25AAAB1B9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581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F85DE-0381-4343-8420-5DB90630FAD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A93732-2EB2-40ED-9783-25AAAB1B9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947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F85DE-0381-4343-8420-5DB90630FADD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A93732-2EB2-40ED-9783-25AAAB1B97A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6102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https://brasil.un.org/pt-br/sdgs" TargetMode="Externa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/>
          <p:cNvSpPr/>
          <p:nvPr/>
        </p:nvSpPr>
        <p:spPr>
          <a:xfrm>
            <a:off x="2693657" y="3593659"/>
            <a:ext cx="9195516" cy="5537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/>
          <p:cNvSpPr txBox="1"/>
          <p:nvPr/>
        </p:nvSpPr>
        <p:spPr>
          <a:xfrm>
            <a:off x="5246636" y="1470053"/>
            <a:ext cx="678640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cxnSp>
        <p:nvCxnSpPr>
          <p:cNvPr id="34" name="Conector reto 33"/>
          <p:cNvCxnSpPr>
            <a:cxnSpLocks/>
          </p:cNvCxnSpPr>
          <p:nvPr/>
        </p:nvCxnSpPr>
        <p:spPr>
          <a:xfrm>
            <a:off x="5352903" y="3870554"/>
            <a:ext cx="6138998" cy="0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aixaDeTexto 1"/>
          <p:cNvSpPr txBox="1"/>
          <p:nvPr/>
        </p:nvSpPr>
        <p:spPr>
          <a:xfrm>
            <a:off x="5205143" y="5217639"/>
            <a:ext cx="643451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>
                <a:solidFill>
                  <a:schemeClr val="tx2"/>
                </a:solidFill>
              </a:rPr>
              <a:t>Sérgio Ronaldo S. Michalovzkey     30.01.26</a:t>
            </a:r>
          </a:p>
        </p:txBody>
      </p:sp>
    </p:spTree>
    <p:extLst>
      <p:ext uri="{BB962C8B-B14F-4D97-AF65-F5344CB8AC3E}">
        <p14:creationId xmlns:p14="http://schemas.microsoft.com/office/powerpoint/2010/main" val="1284325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348944" y="1113795"/>
            <a:ext cx="11272531" cy="55960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sp>
        <p:nvSpPr>
          <p:cNvPr id="4" name="Retângulo 3"/>
          <p:cNvSpPr/>
          <p:nvPr/>
        </p:nvSpPr>
        <p:spPr>
          <a:xfrm>
            <a:off x="679113" y="1280354"/>
            <a:ext cx="10612191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... o jeito de pensar do designer é indiscutivelmente poderoso: </a:t>
            </a:r>
          </a:p>
          <a:p>
            <a:endParaRPr lang="pt-BR" sz="2800" dirty="0">
              <a:solidFill>
                <a:schemeClr val="bg1"/>
              </a:solidFill>
            </a:endParaRPr>
          </a:p>
          <a:p>
            <a:endParaRPr lang="pt-BR" sz="2800" dirty="0">
              <a:solidFill>
                <a:schemeClr val="bg1"/>
              </a:solidFill>
            </a:endParaRPr>
          </a:p>
          <a:p>
            <a:r>
              <a:rPr lang="pt-BR" sz="2800" dirty="0">
                <a:solidFill>
                  <a:schemeClr val="bg1"/>
                </a:solidFill>
              </a:rPr>
              <a:t>grande capacidade de síntese, raciocínio </a:t>
            </a:r>
            <a:r>
              <a:rPr lang="pt-BR" sz="2800" dirty="0" err="1">
                <a:solidFill>
                  <a:schemeClr val="bg1"/>
                </a:solidFill>
              </a:rPr>
              <a:t>abdutivo</a:t>
            </a:r>
            <a:r>
              <a:rPr lang="pt-BR" sz="2800" dirty="0">
                <a:solidFill>
                  <a:schemeClr val="bg1"/>
                </a:solidFill>
              </a:rPr>
              <a:t>, </a:t>
            </a:r>
          </a:p>
          <a:p>
            <a:endParaRPr lang="pt-BR" sz="2800" dirty="0">
              <a:solidFill>
                <a:schemeClr val="bg1"/>
              </a:solidFill>
            </a:endParaRPr>
          </a:p>
          <a:p>
            <a:r>
              <a:rPr lang="pt-BR" sz="2800" dirty="0">
                <a:solidFill>
                  <a:schemeClr val="bg1"/>
                </a:solidFill>
              </a:rPr>
              <a:t>vocação para  a interdisciplinaridade, </a:t>
            </a:r>
          </a:p>
          <a:p>
            <a:endParaRPr lang="pt-BR" sz="2800" dirty="0">
              <a:solidFill>
                <a:schemeClr val="bg1"/>
              </a:solidFill>
            </a:endParaRPr>
          </a:p>
          <a:p>
            <a:r>
              <a:rPr lang="pt-BR" sz="2800" dirty="0">
                <a:solidFill>
                  <a:schemeClr val="bg1"/>
                </a:solidFill>
              </a:rPr>
              <a:t>abertura para a colaboração, empatia  ... e, </a:t>
            </a:r>
          </a:p>
          <a:p>
            <a:endParaRPr lang="pt-BR" sz="2800" dirty="0">
              <a:solidFill>
                <a:schemeClr val="bg1"/>
              </a:solidFill>
            </a:endParaRPr>
          </a:p>
          <a:p>
            <a:r>
              <a:rPr lang="pt-BR" sz="2800" dirty="0">
                <a:solidFill>
                  <a:schemeClr val="bg1"/>
                </a:solidFill>
              </a:rPr>
              <a:t>principalmente, criatividade para inovar.</a:t>
            </a:r>
          </a:p>
          <a:p>
            <a:endParaRPr lang="pt-BR" sz="2800" dirty="0">
              <a:solidFill>
                <a:schemeClr val="bg1"/>
              </a:solidFill>
            </a:endParaRPr>
          </a:p>
          <a:p>
            <a:pPr algn="r"/>
            <a:r>
              <a:rPr lang="pt-BR" sz="2800" dirty="0">
                <a:solidFill>
                  <a:schemeClr val="bg1"/>
                </a:solidFill>
              </a:rPr>
              <a:t>(Hugo Cristo, 2013)</a:t>
            </a:r>
          </a:p>
        </p:txBody>
      </p:sp>
    </p:spTree>
    <p:extLst>
      <p:ext uri="{BB962C8B-B14F-4D97-AF65-F5344CB8AC3E}">
        <p14:creationId xmlns:p14="http://schemas.microsoft.com/office/powerpoint/2010/main" val="1926908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t="12628" r="4241" b="15759"/>
          <a:stretch/>
        </p:blipFill>
        <p:spPr>
          <a:xfrm>
            <a:off x="645017" y="978791"/>
            <a:ext cx="10057326" cy="5640913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8847786" y="579549"/>
            <a:ext cx="2305318" cy="10947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249" y="5734050"/>
            <a:ext cx="1504950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81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/>
          <p:cNvSpPr/>
          <p:nvPr/>
        </p:nvSpPr>
        <p:spPr>
          <a:xfrm>
            <a:off x="3953813" y="1898387"/>
            <a:ext cx="7667663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dirty="0">
                <a:solidFill>
                  <a:srgbClr val="333333"/>
                </a:solidFill>
              </a:rPr>
              <a:t>O Design (</a:t>
            </a:r>
            <a:r>
              <a:rPr lang="pt-BR" sz="2800" dirty="0" err="1">
                <a:solidFill>
                  <a:srgbClr val="333333"/>
                </a:solidFill>
              </a:rPr>
              <a:t>Thinking</a:t>
            </a:r>
            <a:r>
              <a:rPr lang="pt-BR" sz="2800" dirty="0">
                <a:solidFill>
                  <a:srgbClr val="333333"/>
                </a:solidFill>
              </a:rPr>
              <a:t>) propõe uma </a:t>
            </a:r>
            <a:r>
              <a:rPr lang="pt-BR" sz="2800" b="1" dirty="0">
                <a:solidFill>
                  <a:srgbClr val="333333"/>
                </a:solidFill>
              </a:rPr>
              <a:t>maneira de pensar </a:t>
            </a:r>
            <a:r>
              <a:rPr lang="pt-BR" sz="2800" dirty="0">
                <a:solidFill>
                  <a:srgbClr val="333333"/>
                </a:solidFill>
              </a:rPr>
              <a:t>baseada em 3 grandes valores: </a:t>
            </a:r>
          </a:p>
          <a:p>
            <a:endParaRPr lang="pt-BR" sz="2800" dirty="0">
              <a:solidFill>
                <a:srgbClr val="333333"/>
              </a:solidFill>
            </a:endParaRPr>
          </a:p>
          <a:p>
            <a:r>
              <a:rPr lang="pt-BR" sz="2800" dirty="0">
                <a:solidFill>
                  <a:srgbClr val="333333"/>
                </a:solidFill>
              </a:rPr>
              <a:t> </a:t>
            </a:r>
            <a:r>
              <a:rPr lang="pt-BR" sz="2800" dirty="0">
                <a:solidFill>
                  <a:srgbClr val="FF0000"/>
                </a:solidFill>
              </a:rPr>
              <a:t>- empatia  (descoberta inspiração), </a:t>
            </a:r>
          </a:p>
          <a:p>
            <a:r>
              <a:rPr lang="pt-BR" sz="2800" dirty="0">
                <a:solidFill>
                  <a:srgbClr val="FF0000"/>
                </a:solidFill>
              </a:rPr>
              <a:t> - colaboração (ideação) e </a:t>
            </a:r>
          </a:p>
          <a:p>
            <a:r>
              <a:rPr lang="pt-BR" sz="2800" dirty="0">
                <a:solidFill>
                  <a:srgbClr val="FF0000"/>
                </a:solidFill>
              </a:rPr>
              <a:t> - experimentação (implementação).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</p:spTree>
    <p:extLst>
      <p:ext uri="{BB962C8B-B14F-4D97-AF65-F5344CB8AC3E}">
        <p14:creationId xmlns:p14="http://schemas.microsoft.com/office/powerpoint/2010/main" val="2275662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4222462" y="965461"/>
            <a:ext cx="6877319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rabicParenR"/>
            </a:pPr>
            <a:r>
              <a:rPr lang="pt-BR" sz="2800" dirty="0">
                <a:solidFill>
                  <a:srgbClr val="FF0000"/>
                </a:solidFill>
              </a:rPr>
              <a:t>Empatia  </a:t>
            </a:r>
          </a:p>
          <a:p>
            <a:endParaRPr lang="pt-BR" sz="2800" dirty="0">
              <a:solidFill>
                <a:srgbClr val="FF0000"/>
              </a:solidFill>
            </a:endParaRPr>
          </a:p>
          <a:p>
            <a:r>
              <a:rPr lang="pt-BR" sz="2800" dirty="0">
                <a:solidFill>
                  <a:schemeClr val="accent1">
                    <a:lumMod val="50000"/>
                  </a:schemeClr>
                </a:solidFill>
              </a:rPr>
              <a:t>Visão multidisciplinar</a:t>
            </a:r>
          </a:p>
          <a:p>
            <a:pPr marL="514350" indent="-514350">
              <a:buAutoNum type="arabicParenR"/>
            </a:pPr>
            <a:endParaRPr lang="pt-BR" sz="2800" dirty="0">
              <a:solidFill>
                <a:srgbClr val="FF0000"/>
              </a:solidFill>
            </a:endParaRPr>
          </a:p>
          <a:p>
            <a:pPr marL="514350" indent="-514350">
              <a:buAutoNum type="arabicParenR"/>
            </a:pPr>
            <a:endParaRPr lang="pt-BR" sz="2800" dirty="0">
              <a:solidFill>
                <a:srgbClr val="FF0000"/>
              </a:solidFill>
            </a:endParaRPr>
          </a:p>
          <a:p>
            <a:pPr marL="514350" indent="-514350">
              <a:buAutoNum type="arabicParenR" startAt="2"/>
            </a:pPr>
            <a:r>
              <a:rPr lang="pt-BR" sz="2800" dirty="0">
                <a:solidFill>
                  <a:srgbClr val="FF0000"/>
                </a:solidFill>
              </a:rPr>
              <a:t>Colaboração </a:t>
            </a:r>
          </a:p>
          <a:p>
            <a:endParaRPr lang="pt-BR" sz="2800" dirty="0">
              <a:solidFill>
                <a:srgbClr val="FF0000"/>
              </a:solidFill>
            </a:endParaRPr>
          </a:p>
          <a:p>
            <a:r>
              <a:rPr lang="pt-BR" sz="2800" dirty="0">
                <a:solidFill>
                  <a:schemeClr val="accent1">
                    <a:lumMod val="50000"/>
                  </a:schemeClr>
                </a:solidFill>
              </a:rPr>
              <a:t>Visão sistêmica e contextual (T.B.C.)</a:t>
            </a:r>
          </a:p>
          <a:p>
            <a:endParaRPr lang="pt-BR" sz="2800" dirty="0">
              <a:solidFill>
                <a:srgbClr val="FF0000"/>
              </a:solidFill>
            </a:endParaRPr>
          </a:p>
          <a:p>
            <a:pPr marL="514350" indent="-514350">
              <a:buAutoNum type="arabicParenR" startAt="2"/>
            </a:pPr>
            <a:endParaRPr lang="pt-BR" sz="2800" dirty="0">
              <a:solidFill>
                <a:srgbClr val="FF0000"/>
              </a:solidFill>
            </a:endParaRPr>
          </a:p>
          <a:p>
            <a:pPr marL="514350" indent="-514350">
              <a:buAutoNum type="arabicParenR" startAt="2"/>
            </a:pPr>
            <a:r>
              <a:rPr lang="pt-BR" sz="2800" dirty="0">
                <a:solidFill>
                  <a:srgbClr val="FF0000"/>
                </a:solidFill>
              </a:rPr>
              <a:t>Experimentação</a:t>
            </a:r>
          </a:p>
          <a:p>
            <a:pPr marL="514350" indent="-514350">
              <a:buAutoNum type="arabicParenR" startAt="2"/>
            </a:pPr>
            <a:endParaRPr lang="pt-BR" sz="2800" dirty="0">
              <a:solidFill>
                <a:srgbClr val="FF0000"/>
              </a:solidFill>
            </a:endParaRPr>
          </a:p>
          <a:p>
            <a:r>
              <a:rPr lang="pt-BR" sz="2800" dirty="0">
                <a:solidFill>
                  <a:schemeClr val="accent1">
                    <a:lumMod val="50000"/>
                  </a:schemeClr>
                </a:solidFill>
              </a:rPr>
              <a:t>Criatividade e inferência</a:t>
            </a:r>
          </a:p>
          <a:p>
            <a:endParaRPr lang="pt-BR" sz="2800" dirty="0">
              <a:solidFill>
                <a:srgbClr val="FF0000"/>
              </a:solidFill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</p:spTree>
    <p:extLst>
      <p:ext uri="{BB962C8B-B14F-4D97-AF65-F5344CB8AC3E}">
        <p14:creationId xmlns:p14="http://schemas.microsoft.com/office/powerpoint/2010/main" val="3652757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443037"/>
            <a:ext cx="10858500" cy="3971925"/>
          </a:xfrm>
          <a:prstGeom prst="rect">
            <a:avLst/>
          </a:prstGeom>
        </p:spPr>
      </p:pic>
      <p:sp>
        <p:nvSpPr>
          <p:cNvPr id="4" name="Retângulo 3"/>
          <p:cNvSpPr/>
          <p:nvPr/>
        </p:nvSpPr>
        <p:spPr>
          <a:xfrm>
            <a:off x="6846029" y="5414962"/>
            <a:ext cx="42439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/>
              <a:t>http://www.dschool.fr/en/design-thinking/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</p:spTree>
    <p:extLst>
      <p:ext uri="{BB962C8B-B14F-4D97-AF65-F5344CB8AC3E}">
        <p14:creationId xmlns:p14="http://schemas.microsoft.com/office/powerpoint/2010/main" val="1550479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pic>
        <p:nvPicPr>
          <p:cNvPr id="2050" name="Picture 2" descr="Double Diamond Strategy Model - Modelo de apresentação gratuito para Google  Slides e PowerPoint | #08941">
            <a:extLst>
              <a:ext uri="{FF2B5EF4-FFF2-40B4-BE49-F238E27FC236}">
                <a16:creationId xmlns:a16="http://schemas.microsoft.com/office/drawing/2014/main" id="{00130AA0-E6A8-646B-4A88-CCF5E2C466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1316" y="945741"/>
            <a:ext cx="10129684" cy="56979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F7A9F0FA-133A-DAB6-723A-2ED594284378}"/>
              </a:ext>
            </a:extLst>
          </p:cNvPr>
          <p:cNvSpPr/>
          <p:nvPr/>
        </p:nvSpPr>
        <p:spPr>
          <a:xfrm>
            <a:off x="2192594" y="4542503"/>
            <a:ext cx="1877961" cy="9242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0F97CEC-E620-568A-4CAA-B1602DD19DE3}"/>
              </a:ext>
            </a:extLst>
          </p:cNvPr>
          <p:cNvSpPr/>
          <p:nvPr/>
        </p:nvSpPr>
        <p:spPr>
          <a:xfrm>
            <a:off x="9475368" y="4694903"/>
            <a:ext cx="1877961" cy="9242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574AA4BA-9288-E93D-ACC7-B0EAEB3D0A5A}"/>
              </a:ext>
            </a:extLst>
          </p:cNvPr>
          <p:cNvSpPr txBox="1"/>
          <p:nvPr/>
        </p:nvSpPr>
        <p:spPr>
          <a:xfrm>
            <a:off x="6862662" y="6508088"/>
            <a:ext cx="5724930" cy="271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100" dirty="0">
                <a:solidFill>
                  <a:srgbClr val="002060"/>
                </a:solidFill>
              </a:rPr>
              <a:t>https://www.designcouncil.org.uk/our-work/skills-learning/the-double-diamond/</a:t>
            </a:r>
          </a:p>
        </p:txBody>
      </p:sp>
    </p:spTree>
    <p:extLst>
      <p:ext uri="{BB962C8B-B14F-4D97-AF65-F5344CB8AC3E}">
        <p14:creationId xmlns:p14="http://schemas.microsoft.com/office/powerpoint/2010/main" val="2624434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r="778" b="1986"/>
          <a:stretch/>
        </p:blipFill>
        <p:spPr>
          <a:xfrm>
            <a:off x="1672502" y="1216940"/>
            <a:ext cx="9960059" cy="5504701"/>
          </a:xfrm>
          <a:prstGeom prst="rect">
            <a:avLst/>
          </a:prstGeom>
        </p:spPr>
      </p:pic>
      <p:sp>
        <p:nvSpPr>
          <p:cNvPr id="4" name="CaixaDeTexto 3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</p:spTree>
    <p:extLst>
      <p:ext uri="{BB962C8B-B14F-4D97-AF65-F5344CB8AC3E}">
        <p14:creationId xmlns:p14="http://schemas.microsoft.com/office/powerpoint/2010/main" val="3978166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l="9835" t="2735"/>
          <a:stretch/>
        </p:blipFill>
        <p:spPr>
          <a:xfrm>
            <a:off x="2176530" y="1011059"/>
            <a:ext cx="9575661" cy="584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007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494" y="342366"/>
            <a:ext cx="5253842" cy="651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32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335" y="1018168"/>
            <a:ext cx="10030404" cy="583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990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854482" y="1197200"/>
            <a:ext cx="13771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Vídeo</a:t>
            </a:r>
          </a:p>
          <a:p>
            <a:r>
              <a:rPr lang="pt-BR" sz="2800" dirty="0"/>
              <a:t>Empatia</a:t>
            </a:r>
          </a:p>
        </p:txBody>
      </p:sp>
    </p:spTree>
    <p:extLst>
      <p:ext uri="{BB962C8B-B14F-4D97-AF65-F5344CB8AC3E}">
        <p14:creationId xmlns:p14="http://schemas.microsoft.com/office/powerpoint/2010/main" val="3680999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880" y="268913"/>
            <a:ext cx="6810844" cy="656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462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038" y="988184"/>
            <a:ext cx="9851438" cy="5869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664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773946" y="1830445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sp>
        <p:nvSpPr>
          <p:cNvPr id="4" name="CaixaDeTexto 3"/>
          <p:cNvSpPr txBox="1"/>
          <p:nvPr/>
        </p:nvSpPr>
        <p:spPr>
          <a:xfrm>
            <a:off x="4977822" y="3115452"/>
            <a:ext cx="5781967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2000" dirty="0">
                <a:solidFill>
                  <a:srgbClr val="009900"/>
                </a:solidFill>
              </a:rPr>
              <a:t>Inovação</a:t>
            </a:r>
          </a:p>
          <a:p>
            <a:pPr algn="r"/>
            <a:r>
              <a:rPr lang="pt-BR" sz="4000" dirty="0">
                <a:solidFill>
                  <a:srgbClr val="009900"/>
                </a:solidFill>
              </a:rPr>
              <a:t>(atividade individual)</a:t>
            </a:r>
          </a:p>
        </p:txBody>
      </p:sp>
    </p:spTree>
    <p:extLst>
      <p:ext uri="{BB962C8B-B14F-4D97-AF65-F5344CB8AC3E}">
        <p14:creationId xmlns:p14="http://schemas.microsoft.com/office/powerpoint/2010/main" val="23511151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/>
          <p:cNvSpPr txBox="1"/>
          <p:nvPr/>
        </p:nvSpPr>
        <p:spPr>
          <a:xfrm>
            <a:off x="773946" y="1830445"/>
            <a:ext cx="5860318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  <a:p>
            <a:endParaRPr lang="pt-BR" sz="4400" dirty="0">
              <a:solidFill>
                <a:schemeClr val="tx2"/>
              </a:solidFill>
              <a:latin typeface="Amelia BT" panose="04040804050F02020703" pitchFamily="82" charset="0"/>
              <a:ea typeface="Adobe Gothic Std B" panose="020B0800000000000000" pitchFamily="34" charset="-128"/>
            </a:endParaRPr>
          </a:p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           H. C. D.</a:t>
            </a:r>
          </a:p>
          <a:p>
            <a:r>
              <a:rPr lang="pt-BR" sz="4400" dirty="0" err="1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Human-Centered</a:t>
            </a:r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 Design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D9105D3-0972-4750-ADE6-CB37135E5B78}"/>
              </a:ext>
            </a:extLst>
          </p:cNvPr>
          <p:cNvSpPr txBox="1"/>
          <p:nvPr/>
        </p:nvSpPr>
        <p:spPr>
          <a:xfrm>
            <a:off x="4896906" y="6033032"/>
            <a:ext cx="72059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https://www.ideo.com/post/design-kit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373EE50-DE41-4749-BE1D-77ABF4AA1C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219" t="8950" r="13945" b="4238"/>
          <a:stretch/>
        </p:blipFill>
        <p:spPr>
          <a:xfrm>
            <a:off x="7362979" y="571909"/>
            <a:ext cx="3356984" cy="515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158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97955" y="1052737"/>
            <a:ext cx="10574103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</a:rPr>
              <a:t>Aplicando o Design </a:t>
            </a:r>
            <a:r>
              <a:rPr lang="pt-BR" sz="2400" b="1" dirty="0" err="1">
                <a:solidFill>
                  <a:srgbClr val="002060"/>
                </a:solidFill>
              </a:rPr>
              <a:t>Thinking</a:t>
            </a:r>
            <a:r>
              <a:rPr lang="pt-BR" sz="2400" b="1" dirty="0">
                <a:solidFill>
                  <a:srgbClr val="002060"/>
                </a:solidFill>
              </a:rPr>
              <a:t> – APP – Atividade Colaborativa </a:t>
            </a:r>
          </a:p>
          <a:p>
            <a:r>
              <a:rPr lang="pt-BR" sz="2400" b="1" dirty="0">
                <a:solidFill>
                  <a:srgbClr val="002060"/>
                </a:solidFill>
              </a:rPr>
              <a:t> </a:t>
            </a:r>
            <a:endParaRPr lang="pt-BR" sz="2400" dirty="0">
              <a:solidFill>
                <a:srgbClr val="002060"/>
              </a:solidFill>
            </a:endParaRPr>
          </a:p>
          <a:p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Esta APP visa proporcionar a aplicação prática dos conhecimentos relacionados à disciplina</a:t>
            </a:r>
          </a:p>
          <a:p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Inovação e Design </a:t>
            </a:r>
            <a:r>
              <a:rPr lang="pt-BR" sz="1800" dirty="0" err="1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Thinking</a:t>
            </a: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:</a:t>
            </a:r>
          </a:p>
          <a:p>
            <a:endParaRPr lang="pt-BR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pt-BR" i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-</a:t>
            </a:r>
            <a:r>
              <a:rPr lang="pt-BR" sz="1800" i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 entender e aplicar a metodologia, compreender as fases de descoberta, imersão, análise, ideação e prototipagem. </a:t>
            </a:r>
          </a:p>
          <a:p>
            <a:endParaRPr lang="pt-BR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endParaRPr lang="pt-BR" sz="1800" dirty="0">
              <a:solidFill>
                <a:srgbClr val="00206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Ao realizar a atividade, esperamos que vocês desenvolvam e exerçam algumas habilidades e competências requeridas pelo mercado de trabalho, como: </a:t>
            </a:r>
          </a:p>
          <a:p>
            <a:endParaRPr lang="pt-BR" i="1" dirty="0">
              <a:solidFill>
                <a:srgbClr val="002060"/>
              </a:solidFill>
              <a:latin typeface="Arial" panose="020B0604020202020204" pitchFamily="34" charset="0"/>
              <a:ea typeface="Calibri" panose="020F0502020204030204" pitchFamily="34" charset="0"/>
            </a:endParaRPr>
          </a:p>
          <a:p>
            <a:r>
              <a:rPr lang="pt-BR" i="1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</a:rPr>
              <a:t>- </a:t>
            </a:r>
            <a:r>
              <a:rPr lang="pt-BR" sz="1800" i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se apresentar, se comportar, se vestir, se expressar, articular ideias, ser perceptivo, ter uma visão crítica, pensar no coletivo, trabalhar em equipe, conhecer pessoas, lidar com a diversidade, aprender a se posicionar e trabalhar de forma empática. </a:t>
            </a:r>
            <a:endParaRPr lang="pt-BR" sz="2400" i="1" dirty="0">
              <a:solidFill>
                <a:srgbClr val="002060"/>
              </a:solidFill>
            </a:endParaRP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B69F2249-E9DE-CDCC-9EA5-AE42D738A49F}"/>
              </a:ext>
            </a:extLst>
          </p:cNvPr>
          <p:cNvCxnSpPr/>
          <p:nvPr/>
        </p:nvCxnSpPr>
        <p:spPr>
          <a:xfrm flipV="1">
            <a:off x="697955" y="1586493"/>
            <a:ext cx="10274845" cy="1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657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82071" y="867573"/>
            <a:ext cx="11809929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</a:rPr>
              <a:t>Aplicando o Design </a:t>
            </a:r>
            <a:r>
              <a:rPr lang="pt-BR" sz="2400" b="1" dirty="0" err="1">
                <a:solidFill>
                  <a:srgbClr val="002060"/>
                </a:solidFill>
              </a:rPr>
              <a:t>Thinking</a:t>
            </a:r>
            <a:r>
              <a:rPr lang="pt-BR" sz="2400" b="1" dirty="0">
                <a:solidFill>
                  <a:srgbClr val="002060"/>
                </a:solidFill>
              </a:rPr>
              <a:t> – APP – Atividade Colaborativa</a:t>
            </a:r>
            <a:endParaRPr lang="pt-BR" sz="2400" dirty="0">
              <a:solidFill>
                <a:srgbClr val="002060"/>
              </a:solidFill>
            </a:endParaRPr>
          </a:p>
          <a:p>
            <a:r>
              <a:rPr lang="pt-BR" sz="2400" b="1" dirty="0">
                <a:solidFill>
                  <a:srgbClr val="002060"/>
                </a:solidFill>
              </a:rPr>
              <a:t> </a:t>
            </a:r>
            <a:endParaRPr lang="pt-BR" sz="2400" dirty="0">
              <a:solidFill>
                <a:srgbClr val="002060"/>
              </a:solidFill>
            </a:endParaRPr>
          </a:p>
          <a:p>
            <a:r>
              <a:rPr lang="pt-BR" sz="4800" dirty="0">
                <a:solidFill>
                  <a:srgbClr val="002060"/>
                </a:solidFill>
              </a:rPr>
              <a:t>Essa tarefa pontuada envolverá os tópicos 1;2;3;4 e 5.</a:t>
            </a:r>
          </a:p>
          <a:p>
            <a:endParaRPr lang="pt-BR" sz="4800" b="1" dirty="0">
              <a:solidFill>
                <a:srgbClr val="002060"/>
              </a:solidFill>
            </a:endParaRPr>
          </a:p>
          <a:p>
            <a:r>
              <a:rPr lang="pt-BR" sz="3600" b="1" dirty="0">
                <a:solidFill>
                  <a:srgbClr val="002060"/>
                </a:solidFill>
              </a:rPr>
              <a:t>Deve-se, </a:t>
            </a:r>
            <a:r>
              <a:rPr lang="pt-BR" sz="3600" b="1" dirty="0">
                <a:solidFill>
                  <a:srgbClr val="FF0000"/>
                </a:solidFill>
              </a:rPr>
              <a:t>a cada reunião</a:t>
            </a:r>
            <a:r>
              <a:rPr lang="pt-BR" sz="3600" b="1" dirty="0">
                <a:solidFill>
                  <a:srgbClr val="002060"/>
                </a:solidFill>
              </a:rPr>
              <a:t>, durante o desenvolvimento, </a:t>
            </a:r>
            <a:r>
              <a:rPr lang="pt-BR" sz="3600" b="1" u="sng" dirty="0">
                <a:solidFill>
                  <a:srgbClr val="002060"/>
                </a:solidFill>
              </a:rPr>
              <a:t>registrar e caracterizar:</a:t>
            </a:r>
          </a:p>
          <a:p>
            <a:pPr marL="685800" indent="-685800">
              <a:buFontTx/>
              <a:buChar char="-"/>
            </a:pPr>
            <a:r>
              <a:rPr lang="pt-BR" sz="3600" b="1" dirty="0">
                <a:solidFill>
                  <a:srgbClr val="002060"/>
                </a:solidFill>
              </a:rPr>
              <a:t>as etapas dos tópicos no AVA</a:t>
            </a:r>
          </a:p>
          <a:p>
            <a:pPr marL="685800" indent="-685800">
              <a:buFontTx/>
              <a:buChar char="-"/>
            </a:pPr>
            <a:r>
              <a:rPr lang="pt-BR" sz="3600" b="1" dirty="0">
                <a:solidFill>
                  <a:srgbClr val="002060"/>
                </a:solidFill>
              </a:rPr>
              <a:t>ferramentas utilizadas dos tópicos no AVA.</a:t>
            </a:r>
            <a:endParaRPr lang="pt-BR" sz="3600" dirty="0">
              <a:solidFill>
                <a:srgbClr val="002060"/>
              </a:solidFill>
            </a:endParaRPr>
          </a:p>
          <a:p>
            <a:endParaRPr lang="pt-BR" sz="2400" dirty="0">
              <a:solidFill>
                <a:srgbClr val="002060"/>
              </a:solidFill>
            </a:endParaRPr>
          </a:p>
          <a:p>
            <a:r>
              <a:rPr lang="pt-BR" sz="2400" dirty="0">
                <a:solidFill>
                  <a:srgbClr val="002060"/>
                </a:solidFill>
              </a:rPr>
              <a:t> </a:t>
            </a:r>
          </a:p>
          <a:p>
            <a:endParaRPr lang="pt-BR" sz="2400" dirty="0">
              <a:solidFill>
                <a:srgbClr val="002060"/>
              </a:solidFill>
            </a:endParaRP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171CD006-8CA2-ADB5-D8EC-4E7AA356C76D}"/>
              </a:ext>
            </a:extLst>
          </p:cNvPr>
          <p:cNvCxnSpPr/>
          <p:nvPr/>
        </p:nvCxnSpPr>
        <p:spPr>
          <a:xfrm flipV="1">
            <a:off x="382071" y="1372484"/>
            <a:ext cx="10274845" cy="1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75323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97955" y="1052737"/>
            <a:ext cx="1057410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</a:rPr>
              <a:t>Aplicando o Design </a:t>
            </a:r>
            <a:r>
              <a:rPr lang="pt-BR" sz="2400" b="1" dirty="0" err="1">
                <a:solidFill>
                  <a:srgbClr val="002060"/>
                </a:solidFill>
              </a:rPr>
              <a:t>Thinking</a:t>
            </a:r>
            <a:r>
              <a:rPr lang="pt-BR" sz="2400" b="1" dirty="0">
                <a:solidFill>
                  <a:srgbClr val="002060"/>
                </a:solidFill>
              </a:rPr>
              <a:t> – APP – Atividade Colaborativa</a:t>
            </a:r>
            <a:endParaRPr lang="pt-BR" sz="2400" dirty="0">
              <a:solidFill>
                <a:srgbClr val="002060"/>
              </a:solidFill>
            </a:endParaRPr>
          </a:p>
          <a:p>
            <a:r>
              <a:rPr lang="pt-BR" sz="2400" b="1" dirty="0">
                <a:solidFill>
                  <a:srgbClr val="002060"/>
                </a:solidFill>
              </a:rPr>
              <a:t> </a:t>
            </a:r>
            <a:endParaRPr lang="pt-BR" sz="2400" dirty="0">
              <a:solidFill>
                <a:srgbClr val="002060"/>
              </a:solidFill>
            </a:endParaRPr>
          </a:p>
          <a:p>
            <a:r>
              <a:rPr lang="pt-BR" sz="2400" dirty="0">
                <a:solidFill>
                  <a:srgbClr val="002060"/>
                </a:solidFill>
              </a:rPr>
              <a:t>A) Sugestão de tema </a:t>
            </a:r>
          </a:p>
          <a:p>
            <a:r>
              <a:rPr lang="pt-BR" sz="2400" dirty="0">
                <a:solidFill>
                  <a:srgbClr val="002060"/>
                </a:solidFill>
              </a:rPr>
              <a:t>Considerando que: </a:t>
            </a:r>
          </a:p>
          <a:p>
            <a:r>
              <a:rPr lang="pt-BR" sz="2400" dirty="0">
                <a:solidFill>
                  <a:srgbClr val="002060"/>
                </a:solidFill>
              </a:rPr>
              <a:t>Um dos anseios da humanidade é viver mais e viver bem, e, há em diversos países –  inclusive no Brasil -  um aumento da expectativa de vida.</a:t>
            </a:r>
          </a:p>
          <a:p>
            <a:endParaRPr lang="pt-BR" sz="2400" dirty="0">
              <a:solidFill>
                <a:srgbClr val="002060"/>
              </a:solidFill>
            </a:endParaRPr>
          </a:p>
          <a:p>
            <a:r>
              <a:rPr lang="pt-BR" sz="2400" dirty="0">
                <a:solidFill>
                  <a:srgbClr val="002060"/>
                </a:solidFill>
              </a:rPr>
              <a:t>Portanto: como pessoas idosas (com saúde física e mental boas, mas, que em função da idade, precisam usar remédios/medicamentos); conseguirão, sozinhas, </a:t>
            </a:r>
          </a:p>
          <a:p>
            <a:r>
              <a:rPr lang="pt-BR" sz="2400" dirty="0">
                <a:solidFill>
                  <a:srgbClr val="002060"/>
                </a:solidFill>
              </a:rPr>
              <a:t>sem precisar de cuidadores ou pessoas da família e, com segurança:</a:t>
            </a:r>
          </a:p>
          <a:p>
            <a:endParaRPr lang="pt-BR" sz="2400" dirty="0">
              <a:solidFill>
                <a:srgbClr val="002060"/>
              </a:solidFill>
            </a:endParaRPr>
          </a:p>
          <a:p>
            <a:r>
              <a:rPr lang="pt-BR" sz="2400" dirty="0">
                <a:solidFill>
                  <a:srgbClr val="002060"/>
                </a:solidFill>
              </a:rPr>
              <a:t>1- organizar as receitas médicas;</a:t>
            </a:r>
          </a:p>
          <a:p>
            <a:r>
              <a:rPr lang="pt-BR" sz="2400" dirty="0">
                <a:solidFill>
                  <a:srgbClr val="002060"/>
                </a:solidFill>
              </a:rPr>
              <a:t>2- tomar corretamente seus remédios/medicamentos?</a:t>
            </a:r>
          </a:p>
          <a:p>
            <a:r>
              <a:rPr lang="pt-BR" sz="2400" b="1" dirty="0">
                <a:solidFill>
                  <a:srgbClr val="002060"/>
                </a:solidFill>
              </a:rPr>
              <a:t> </a:t>
            </a:r>
            <a:endParaRPr lang="pt-BR" sz="2400" dirty="0">
              <a:solidFill>
                <a:srgbClr val="002060"/>
              </a:solidFill>
            </a:endParaRPr>
          </a:p>
        </p:txBody>
      </p:sp>
      <p:cxnSp>
        <p:nvCxnSpPr>
          <p:cNvPr id="3" name="Conector reto 2"/>
          <p:cNvCxnSpPr/>
          <p:nvPr/>
        </p:nvCxnSpPr>
        <p:spPr>
          <a:xfrm flipV="1">
            <a:off x="697955" y="1586493"/>
            <a:ext cx="10274845" cy="1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0170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382071" y="867573"/>
            <a:ext cx="11809929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</a:rPr>
              <a:t>Aplicando o Design </a:t>
            </a:r>
            <a:r>
              <a:rPr lang="pt-BR" sz="2400" b="1" dirty="0" err="1">
                <a:solidFill>
                  <a:srgbClr val="002060"/>
                </a:solidFill>
              </a:rPr>
              <a:t>Thinking</a:t>
            </a:r>
            <a:r>
              <a:rPr lang="pt-BR" sz="2400" b="1" dirty="0">
                <a:solidFill>
                  <a:srgbClr val="002060"/>
                </a:solidFill>
              </a:rPr>
              <a:t> – APP – Atividade Colaborativa</a:t>
            </a:r>
            <a:endParaRPr lang="pt-BR" sz="2400" dirty="0">
              <a:solidFill>
                <a:srgbClr val="002060"/>
              </a:solidFill>
            </a:endParaRPr>
          </a:p>
          <a:p>
            <a:r>
              <a:rPr lang="pt-BR" sz="2400" b="1" dirty="0">
                <a:solidFill>
                  <a:srgbClr val="002060"/>
                </a:solidFill>
              </a:rPr>
              <a:t> </a:t>
            </a:r>
            <a:endParaRPr lang="pt-BR" sz="2400" dirty="0">
              <a:solidFill>
                <a:srgbClr val="002060"/>
              </a:solidFill>
            </a:endParaRPr>
          </a:p>
          <a:p>
            <a:endParaRPr lang="pt-BR" sz="2400" dirty="0">
              <a:solidFill>
                <a:srgbClr val="002060"/>
              </a:solidFill>
            </a:endParaRPr>
          </a:p>
          <a:p>
            <a:pPr lvl="0"/>
            <a:r>
              <a:rPr lang="pt-BR" sz="2400" dirty="0">
                <a:solidFill>
                  <a:srgbClr val="002060"/>
                </a:solidFill>
              </a:rPr>
              <a:t>Projetar uma solução para as duas situações levantadas:</a:t>
            </a:r>
          </a:p>
          <a:p>
            <a:pPr lvl="0"/>
            <a:endParaRPr lang="pt-BR" sz="2400" dirty="0">
              <a:solidFill>
                <a:srgbClr val="002060"/>
              </a:solidFill>
            </a:endParaRPr>
          </a:p>
          <a:p>
            <a:r>
              <a:rPr lang="pt-BR" sz="2400" i="1" dirty="0">
                <a:solidFill>
                  <a:srgbClr val="002060"/>
                </a:solidFill>
              </a:rPr>
              <a:t>Sozinhas, sem precisar de cuidadores ou pessoas da família e, com segurança:</a:t>
            </a:r>
            <a:endParaRPr lang="pt-BR" sz="2400" dirty="0">
              <a:solidFill>
                <a:srgbClr val="002060"/>
              </a:solidFill>
            </a:endParaRPr>
          </a:p>
          <a:p>
            <a:r>
              <a:rPr lang="pt-BR" sz="2400" i="1" dirty="0">
                <a:solidFill>
                  <a:srgbClr val="002060"/>
                </a:solidFill>
              </a:rPr>
              <a:t>1- organizar as receitas;</a:t>
            </a:r>
            <a:endParaRPr lang="pt-BR" sz="2400" dirty="0">
              <a:solidFill>
                <a:srgbClr val="002060"/>
              </a:solidFill>
            </a:endParaRPr>
          </a:p>
          <a:p>
            <a:r>
              <a:rPr lang="pt-BR" sz="2400" i="1" dirty="0">
                <a:solidFill>
                  <a:srgbClr val="002060"/>
                </a:solidFill>
              </a:rPr>
              <a:t>2- tomar seus remédios/medicamentos.</a:t>
            </a:r>
          </a:p>
          <a:p>
            <a:endParaRPr lang="pt-BR" sz="2400" i="1" dirty="0">
              <a:solidFill>
                <a:srgbClr val="002060"/>
              </a:solidFill>
            </a:endParaRPr>
          </a:p>
          <a:p>
            <a:endParaRPr lang="pt-BR" sz="2400" i="1" dirty="0">
              <a:solidFill>
                <a:srgbClr val="002060"/>
              </a:solidFill>
            </a:endParaRPr>
          </a:p>
          <a:p>
            <a:r>
              <a:rPr lang="pt-BR" sz="2400" b="1" dirty="0">
                <a:solidFill>
                  <a:srgbClr val="FF0000"/>
                </a:solidFill>
              </a:rPr>
              <a:t>ATENÇÃO: </a:t>
            </a:r>
          </a:p>
          <a:p>
            <a:r>
              <a:rPr lang="pt-BR" sz="2400" b="1" dirty="0">
                <a:solidFill>
                  <a:srgbClr val="002060"/>
                </a:solidFill>
              </a:rPr>
              <a:t>A solução obrigatoriamente deve envolver:</a:t>
            </a:r>
          </a:p>
          <a:p>
            <a:pPr marL="342900" indent="-342900">
              <a:buFontTx/>
              <a:buChar char="-"/>
            </a:pPr>
            <a:r>
              <a:rPr lang="pt-BR" sz="2400" b="1" dirty="0">
                <a:solidFill>
                  <a:srgbClr val="002060"/>
                </a:solidFill>
              </a:rPr>
              <a:t>um objeto físico (modelo);</a:t>
            </a:r>
          </a:p>
          <a:p>
            <a:pPr marL="342900" indent="-342900">
              <a:buFontTx/>
              <a:buChar char="-"/>
            </a:pPr>
            <a:r>
              <a:rPr lang="pt-BR" sz="2400" b="1" dirty="0">
                <a:solidFill>
                  <a:srgbClr val="002060"/>
                </a:solidFill>
              </a:rPr>
              <a:t>um produto digital (protótipo de média fidelidade) . </a:t>
            </a:r>
            <a:endParaRPr lang="pt-BR" sz="2400" dirty="0">
              <a:solidFill>
                <a:srgbClr val="002060"/>
              </a:solidFill>
            </a:endParaRPr>
          </a:p>
          <a:p>
            <a:endParaRPr lang="pt-BR" sz="2400" dirty="0">
              <a:solidFill>
                <a:srgbClr val="002060"/>
              </a:solidFill>
            </a:endParaRPr>
          </a:p>
          <a:p>
            <a:r>
              <a:rPr lang="pt-BR" sz="2400" dirty="0">
                <a:solidFill>
                  <a:srgbClr val="002060"/>
                </a:solidFill>
              </a:rPr>
              <a:t> </a:t>
            </a:r>
          </a:p>
          <a:p>
            <a:endParaRPr lang="pt-BR" sz="2400" dirty="0">
              <a:solidFill>
                <a:srgbClr val="002060"/>
              </a:solidFill>
            </a:endParaRPr>
          </a:p>
        </p:txBody>
      </p:sp>
      <p:cxnSp>
        <p:nvCxnSpPr>
          <p:cNvPr id="6" name="Conector reto 5"/>
          <p:cNvCxnSpPr/>
          <p:nvPr/>
        </p:nvCxnSpPr>
        <p:spPr>
          <a:xfrm flipV="1">
            <a:off x="490136" y="1399309"/>
            <a:ext cx="10274845" cy="1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056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97955" y="945733"/>
            <a:ext cx="10574103" cy="5972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</a:rPr>
              <a:t>Aplicando o Design </a:t>
            </a:r>
            <a:r>
              <a:rPr lang="pt-BR" sz="2400" b="1" dirty="0" err="1">
                <a:solidFill>
                  <a:srgbClr val="002060"/>
                </a:solidFill>
              </a:rPr>
              <a:t>Thinking</a:t>
            </a:r>
            <a:r>
              <a:rPr lang="pt-BR" sz="2400" b="1" dirty="0">
                <a:solidFill>
                  <a:srgbClr val="002060"/>
                </a:solidFill>
              </a:rPr>
              <a:t> – APP – Atividade Colaborativa </a:t>
            </a:r>
            <a:endParaRPr lang="pt-BR" sz="2400" dirty="0">
              <a:solidFill>
                <a:srgbClr val="002060"/>
              </a:solidFill>
            </a:endParaRPr>
          </a:p>
          <a:p>
            <a:endParaRPr lang="pt-BR" sz="2400" dirty="0">
              <a:solidFill>
                <a:srgbClr val="002060"/>
              </a:solidFill>
            </a:endParaRPr>
          </a:p>
          <a:p>
            <a:r>
              <a:rPr lang="pt-BR" sz="1800" dirty="0">
                <a:solidFill>
                  <a:srgbClr val="002060"/>
                </a:solidFill>
              </a:rPr>
              <a:t>A) Sugestão de tema </a:t>
            </a:r>
          </a:p>
          <a:p>
            <a:r>
              <a:rPr lang="pt-BR" dirty="0">
                <a:solidFill>
                  <a:srgbClr val="002060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Além do tema proposto, a</a:t>
            </a: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baixo listamos algumas temáticas para que vocês possam se inspirar a estudar e projetar uma solução. </a:t>
            </a:r>
          </a:p>
          <a:p>
            <a:pPr algn="just">
              <a:lnSpc>
                <a:spcPct val="150000"/>
              </a:lnSpc>
            </a:pPr>
            <a:endParaRPr lang="pt-BR" sz="1800" dirty="0">
              <a:solidFill>
                <a:srgbClr val="00206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800" b="1" i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Busquem algo que motive vocês! 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Atuem em algo que </a:t>
            </a:r>
            <a:r>
              <a:rPr lang="pt-BR" sz="1800" b="1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vocês acreditam </a:t>
            </a: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 possam fazer a diferença e ajudar a sociedade.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Vocês podem / devem usar os conhecimentos já adquiridos na graduação ou saberes que adquiriram ao longo da vida.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lista é apenas para inspirar!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endParaRPr lang="pt-BR" sz="1800" dirty="0">
              <a:solidFill>
                <a:srgbClr val="00206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Acessem a lista dos Objetivos de Desenvolvimento Sustentável da ONU: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800" u="sng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https://brasil.un.org/pt-br/sdgs</a:t>
            </a: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para escolher em qual temática projetar. </a:t>
            </a:r>
            <a:endParaRPr lang="pt-BR" sz="2400" dirty="0">
              <a:solidFill>
                <a:srgbClr val="002060"/>
              </a:solidFill>
            </a:endParaRP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9702F40A-51CF-B8C1-93D1-F59E9E47524A}"/>
              </a:ext>
            </a:extLst>
          </p:cNvPr>
          <p:cNvCxnSpPr/>
          <p:nvPr/>
        </p:nvCxnSpPr>
        <p:spPr>
          <a:xfrm flipV="1">
            <a:off x="697955" y="1440576"/>
            <a:ext cx="10274845" cy="1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803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97955" y="1052737"/>
            <a:ext cx="10574103" cy="13277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</a:rPr>
              <a:t>Aplicando o Design </a:t>
            </a:r>
            <a:r>
              <a:rPr lang="pt-BR" sz="2400" b="1" dirty="0" err="1">
                <a:solidFill>
                  <a:srgbClr val="002060"/>
                </a:solidFill>
              </a:rPr>
              <a:t>Thinking</a:t>
            </a:r>
            <a:r>
              <a:rPr lang="pt-BR" sz="2400" b="1" dirty="0">
                <a:solidFill>
                  <a:srgbClr val="002060"/>
                </a:solidFill>
              </a:rPr>
              <a:t> – APP – Atividade Colaborativa</a:t>
            </a:r>
            <a:endParaRPr lang="pt-BR" sz="2400" dirty="0">
              <a:solidFill>
                <a:srgbClr val="002060"/>
              </a:solidFill>
            </a:endParaRPr>
          </a:p>
          <a:p>
            <a:r>
              <a:rPr lang="pt-BR" sz="2400" b="1" dirty="0">
                <a:solidFill>
                  <a:srgbClr val="002060"/>
                </a:solidFill>
              </a:rPr>
              <a:t> </a:t>
            </a:r>
            <a:endParaRPr lang="pt-BR" sz="2400" dirty="0">
              <a:solidFill>
                <a:srgbClr val="00206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pt-BR" sz="2400" b="1" dirty="0">
                <a:solidFill>
                  <a:srgbClr val="002060"/>
                </a:solidFill>
              </a:rPr>
              <a:t> </a:t>
            </a:r>
            <a:endParaRPr lang="pt-BR" sz="2400" dirty="0">
              <a:solidFill>
                <a:srgbClr val="002060"/>
              </a:solidFill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D7BFF69-7A7A-490F-81B1-839623366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55" y="1602468"/>
            <a:ext cx="10889087" cy="5088574"/>
          </a:xfrm>
          <a:prstGeom prst="rect">
            <a:avLst/>
          </a:prstGeom>
        </p:spPr>
      </p:pic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1358FF65-B405-6306-41E1-C438D995C3B2}"/>
              </a:ext>
            </a:extLst>
          </p:cNvPr>
          <p:cNvCxnSpPr/>
          <p:nvPr/>
        </p:nvCxnSpPr>
        <p:spPr>
          <a:xfrm flipV="1">
            <a:off x="697955" y="1498941"/>
            <a:ext cx="10274845" cy="1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9331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97955" y="1052737"/>
            <a:ext cx="10574103" cy="4414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Outras frentes de atuação: </a:t>
            </a:r>
            <a:endParaRPr lang="pt-B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pt-B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Doação de Sangue (bancos estão com estoque baixo na pandemia) </a:t>
            </a:r>
            <a:endParaRPr lang="pt-B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Acolhimento de animais (abrigos estão com superlotação)</a:t>
            </a:r>
            <a:endParaRPr lang="pt-B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Desemprego (aproximadamente 6 milhões de desempregados no Brasil)</a:t>
            </a:r>
            <a:endParaRPr lang="pt-B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Adoção de Crianças (aproximadamente 5 mil crianças aptas à adoção) </a:t>
            </a:r>
            <a:endParaRPr lang="pt-B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Qualidade de vida (idosos lideram ranking de depressão) </a:t>
            </a:r>
            <a:endParaRPr lang="pt-B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Limitações físicas (cadeirantes tem dificuldade de usar banheiros públicos) </a:t>
            </a:r>
            <a:endParaRPr lang="pt-B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arenR"/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Meio ambiente </a:t>
            </a:r>
            <a:endParaRPr lang="pt-B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pt-BR" sz="2400" b="1" dirty="0">
                <a:solidFill>
                  <a:srgbClr val="002060"/>
                </a:solidFill>
              </a:rPr>
              <a:t> </a:t>
            </a:r>
            <a:endParaRPr lang="pt-BR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4896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697955" y="985734"/>
            <a:ext cx="10574103" cy="5098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Outras frentes de atuação:  </a:t>
            </a:r>
            <a:endParaRPr lang="pt-B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 startAt="8"/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Desigualdade social </a:t>
            </a:r>
            <a:endParaRPr lang="pt-B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 startAt="8"/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Dependentes químicos</a:t>
            </a:r>
            <a:endParaRPr lang="pt-B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 startAt="8"/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Pessoas desaparecidas</a:t>
            </a:r>
            <a:endParaRPr lang="pt-B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 startAt="8"/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Pessoa em situação de rua </a:t>
            </a:r>
            <a:endParaRPr lang="pt-B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 startAt="8"/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Inclusão digital </a:t>
            </a:r>
            <a:endParaRPr lang="pt-B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 startAt="8"/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Obesidade Infantil</a:t>
            </a:r>
            <a:endParaRPr lang="pt-B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+mj-lt"/>
              <a:buAutoNum type="arabicPeriod" startAt="8"/>
            </a:pPr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Refugiados</a:t>
            </a:r>
            <a:endParaRPr lang="pt-BR" sz="1800" dirty="0">
              <a:solidFill>
                <a:srgbClr val="00206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pt-BR" sz="1800" dirty="0">
                <a:solidFill>
                  <a:srgbClr val="00206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15.Violência e Segurança </a:t>
            </a:r>
            <a:r>
              <a:rPr lang="pt-BR" sz="2400" b="1" dirty="0">
                <a:solidFill>
                  <a:srgbClr val="002060"/>
                </a:solidFill>
              </a:rPr>
              <a:t> </a:t>
            </a:r>
          </a:p>
          <a:p>
            <a:endParaRPr lang="pt-BR" sz="2400" b="1" dirty="0">
              <a:solidFill>
                <a:srgbClr val="002060"/>
              </a:solidFill>
            </a:endParaRPr>
          </a:p>
          <a:p>
            <a:endParaRPr lang="pt-BR" sz="2400" b="1" dirty="0">
              <a:solidFill>
                <a:srgbClr val="002060"/>
              </a:solidFill>
            </a:endParaRPr>
          </a:p>
          <a:p>
            <a:endParaRPr lang="pt-BR" sz="24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53125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/>
          <p:cNvSpPr txBox="1"/>
          <p:nvPr/>
        </p:nvSpPr>
        <p:spPr>
          <a:xfrm>
            <a:off x="233033" y="98132"/>
            <a:ext cx="4852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dirty="0">
                <a:solidFill>
                  <a:schemeClr val="tx2"/>
                </a:solidFill>
                <a:latin typeface="Amelia BT" panose="04040804050F02020703" pitchFamily="82" charset="0"/>
                <a:ea typeface="Adobe Gothic Std B" panose="020B0800000000000000" pitchFamily="34" charset="-128"/>
              </a:rPr>
              <a:t>DESIGN THINKING</a:t>
            </a:r>
          </a:p>
        </p:txBody>
      </p:sp>
      <p:sp>
        <p:nvSpPr>
          <p:cNvPr id="5" name="CaixaDeTexto 4"/>
          <p:cNvSpPr txBox="1"/>
          <p:nvPr/>
        </p:nvSpPr>
        <p:spPr>
          <a:xfrm>
            <a:off x="487090" y="867573"/>
            <a:ext cx="11471877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002060"/>
                </a:solidFill>
              </a:rPr>
              <a:t>Aplicando o Design </a:t>
            </a:r>
            <a:r>
              <a:rPr lang="pt-BR" sz="2400" b="1" dirty="0" err="1">
                <a:solidFill>
                  <a:srgbClr val="002060"/>
                </a:solidFill>
              </a:rPr>
              <a:t>Thinking</a:t>
            </a:r>
            <a:r>
              <a:rPr lang="pt-BR" sz="2400" b="1" dirty="0">
                <a:solidFill>
                  <a:srgbClr val="002060"/>
                </a:solidFill>
              </a:rPr>
              <a:t> – APP – Atividade Colaborativa</a:t>
            </a:r>
            <a:endParaRPr lang="pt-BR" sz="2400" dirty="0">
              <a:solidFill>
                <a:srgbClr val="002060"/>
              </a:solidFill>
            </a:endParaRPr>
          </a:p>
          <a:p>
            <a:endParaRPr lang="pt-BR" sz="2400" dirty="0">
              <a:solidFill>
                <a:srgbClr val="002060"/>
              </a:solidFill>
            </a:endParaRPr>
          </a:p>
          <a:p>
            <a:r>
              <a:rPr lang="pt-BR" sz="2400" b="1" dirty="0">
                <a:solidFill>
                  <a:srgbClr val="002060"/>
                </a:solidFill>
              </a:rPr>
              <a:t> </a:t>
            </a:r>
            <a:endParaRPr lang="pt-BR" sz="2400" dirty="0">
              <a:solidFill>
                <a:srgbClr val="002060"/>
              </a:solidFill>
            </a:endParaRPr>
          </a:p>
          <a:p>
            <a:r>
              <a:rPr lang="pt-BR" sz="2400" dirty="0">
                <a:solidFill>
                  <a:srgbClr val="002060"/>
                </a:solidFill>
              </a:rPr>
              <a:t>A) </a:t>
            </a:r>
            <a:r>
              <a:rPr lang="pt-BR" sz="2400" b="1" dirty="0">
                <a:solidFill>
                  <a:srgbClr val="002060"/>
                </a:solidFill>
              </a:rPr>
              <a:t>Inscrição e Entrega InovaWeek (*)</a:t>
            </a:r>
          </a:p>
          <a:p>
            <a:r>
              <a:rPr lang="pt-BR" sz="2400" dirty="0">
                <a:solidFill>
                  <a:srgbClr val="002060"/>
                </a:solidFill>
              </a:rPr>
              <a:t>B) Entregas  intermediárias – </a:t>
            </a:r>
            <a:r>
              <a:rPr lang="pt-BR" sz="2400" b="1" dirty="0">
                <a:solidFill>
                  <a:srgbClr val="002060"/>
                </a:solidFill>
              </a:rPr>
              <a:t>individualmente (*)</a:t>
            </a:r>
          </a:p>
          <a:p>
            <a:r>
              <a:rPr lang="pt-BR" sz="2000" dirty="0">
                <a:solidFill>
                  <a:srgbClr val="002060"/>
                </a:solidFill>
              </a:rPr>
              <a:t>2ª) -   um mapa de empatia</a:t>
            </a:r>
            <a:endParaRPr lang="pt-BR" sz="2000" dirty="0">
              <a:solidFill>
                <a:srgbClr val="002060"/>
              </a:solidFill>
              <a:highlight>
                <a:srgbClr val="000000"/>
              </a:highlight>
            </a:endParaRPr>
          </a:p>
          <a:p>
            <a:r>
              <a:rPr lang="pt-BR" sz="2000" dirty="0">
                <a:solidFill>
                  <a:srgbClr val="002060"/>
                </a:solidFill>
              </a:rPr>
              <a:t>3ª) -   ao menos </a:t>
            </a:r>
            <a:r>
              <a:rPr lang="pt-BR" sz="2000" b="1" dirty="0">
                <a:solidFill>
                  <a:srgbClr val="002060"/>
                </a:solidFill>
              </a:rPr>
              <a:t>uma ideia </a:t>
            </a:r>
            <a:r>
              <a:rPr lang="pt-BR" sz="2000" dirty="0">
                <a:solidFill>
                  <a:srgbClr val="002060"/>
                </a:solidFill>
              </a:rPr>
              <a:t>de solução para o problema </a:t>
            </a:r>
            <a:r>
              <a:rPr lang="pt-BR" sz="2000" b="1" dirty="0">
                <a:solidFill>
                  <a:srgbClr val="002060"/>
                </a:solidFill>
              </a:rPr>
              <a:t>de cada integrante </a:t>
            </a:r>
            <a:r>
              <a:rPr lang="pt-BR" sz="2000" dirty="0">
                <a:solidFill>
                  <a:srgbClr val="002060"/>
                </a:solidFill>
              </a:rPr>
              <a:t>do grupo</a:t>
            </a:r>
            <a:endParaRPr lang="pt-BR" sz="2000" dirty="0">
              <a:solidFill>
                <a:srgbClr val="002060"/>
              </a:solidFill>
              <a:highlight>
                <a:srgbClr val="000000"/>
              </a:highlight>
            </a:endParaRPr>
          </a:p>
          <a:p>
            <a:endParaRPr lang="pt-BR" sz="2400" dirty="0">
              <a:solidFill>
                <a:srgbClr val="002060"/>
              </a:solidFill>
            </a:endParaRPr>
          </a:p>
          <a:p>
            <a:r>
              <a:rPr lang="pt-BR" sz="2400" dirty="0">
                <a:solidFill>
                  <a:srgbClr val="002060"/>
                </a:solidFill>
              </a:rPr>
              <a:t>C) </a:t>
            </a:r>
            <a:r>
              <a:rPr lang="pt-BR" sz="2400" b="1" dirty="0">
                <a:solidFill>
                  <a:srgbClr val="002060"/>
                </a:solidFill>
              </a:rPr>
              <a:t>Entrega final (*)</a:t>
            </a:r>
            <a:endParaRPr lang="pt-BR" sz="2400" dirty="0">
              <a:solidFill>
                <a:srgbClr val="002060"/>
              </a:solidFill>
            </a:endParaRPr>
          </a:p>
          <a:p>
            <a:pPr marL="285750" indent="-285750">
              <a:buFontTx/>
              <a:buChar char="-"/>
            </a:pPr>
            <a:r>
              <a:rPr lang="pt-BR" sz="2000" dirty="0">
                <a:solidFill>
                  <a:srgbClr val="002060"/>
                </a:solidFill>
              </a:rPr>
              <a:t>Memorial do Projeto</a:t>
            </a:r>
          </a:p>
          <a:p>
            <a:pPr marL="285750" indent="-285750">
              <a:buFontTx/>
              <a:buChar char="-"/>
            </a:pPr>
            <a:r>
              <a:rPr lang="pt-BR" sz="2000" dirty="0">
                <a:solidFill>
                  <a:srgbClr val="002060"/>
                </a:solidFill>
              </a:rPr>
              <a:t>Arquivo com apresentação</a:t>
            </a:r>
          </a:p>
          <a:p>
            <a:pPr marL="285750" indent="-285750">
              <a:buFontTx/>
              <a:buChar char="-"/>
            </a:pPr>
            <a:r>
              <a:rPr lang="pt-BR" sz="2000" dirty="0">
                <a:solidFill>
                  <a:srgbClr val="002060"/>
                </a:solidFill>
              </a:rPr>
              <a:t>Identificar qual tipo de Inovação o projeto se adequa</a:t>
            </a:r>
          </a:p>
          <a:p>
            <a:pPr marL="285750" indent="-285750">
              <a:buFontTx/>
              <a:buChar char="-"/>
              <a:tabLst>
                <a:tab pos="1978025" algn="l"/>
              </a:tabLst>
            </a:pPr>
            <a:r>
              <a:rPr lang="pt-BR" sz="2000" dirty="0">
                <a:solidFill>
                  <a:srgbClr val="002060"/>
                </a:solidFill>
              </a:rPr>
              <a:t>Identificar quais patentes podem ser pleiteadas com o projeto</a:t>
            </a:r>
          </a:p>
          <a:p>
            <a:pPr marL="285750" indent="-285750">
              <a:buFontTx/>
              <a:buChar char="-"/>
            </a:pPr>
            <a:r>
              <a:rPr lang="pt-BR" sz="2000" i="1" dirty="0" err="1">
                <a:solidFill>
                  <a:srgbClr val="002060"/>
                </a:solidFill>
              </a:rPr>
              <a:t>Pitch</a:t>
            </a:r>
            <a:r>
              <a:rPr lang="pt-BR" sz="2000" dirty="0">
                <a:solidFill>
                  <a:srgbClr val="002060"/>
                </a:solidFill>
              </a:rPr>
              <a:t> com duração máxima de 5 minutos </a:t>
            </a:r>
          </a:p>
          <a:p>
            <a:pPr marL="285750" indent="-285750">
              <a:buFontTx/>
              <a:buChar char="-"/>
            </a:pPr>
            <a:r>
              <a:rPr lang="pt-BR" sz="2000" dirty="0">
                <a:solidFill>
                  <a:srgbClr val="002060"/>
                </a:solidFill>
              </a:rPr>
              <a:t>Protótipo (média fidelidade) e um objeto físico (modelo) com a solução</a:t>
            </a:r>
            <a:r>
              <a:rPr lang="pt-BR" sz="2400" b="1" dirty="0">
                <a:solidFill>
                  <a:srgbClr val="002060"/>
                </a:solidFill>
              </a:rPr>
              <a:t>.</a:t>
            </a:r>
            <a:endParaRPr lang="pt-BR" sz="2400" dirty="0">
              <a:solidFill>
                <a:srgbClr val="002060"/>
              </a:solidFill>
            </a:endParaRPr>
          </a:p>
          <a:p>
            <a:r>
              <a:rPr lang="pt-BR" sz="2400" i="1">
                <a:solidFill>
                  <a:srgbClr val="002060"/>
                </a:solidFill>
              </a:rPr>
              <a:t>(*) </a:t>
            </a:r>
            <a:r>
              <a:rPr lang="pt-BR" sz="2400" i="1" dirty="0">
                <a:solidFill>
                  <a:srgbClr val="002060"/>
                </a:solidFill>
              </a:rPr>
              <a:t>postagens no AVA, como atividade para entrega</a:t>
            </a:r>
          </a:p>
          <a:p>
            <a:endParaRPr lang="pt-BR" sz="2400" dirty="0">
              <a:solidFill>
                <a:srgbClr val="002060"/>
              </a:solidFill>
            </a:endParaRPr>
          </a:p>
        </p:txBody>
      </p:sp>
      <p:cxnSp>
        <p:nvCxnSpPr>
          <p:cNvPr id="2" name="Conector reto 1">
            <a:extLst>
              <a:ext uri="{FF2B5EF4-FFF2-40B4-BE49-F238E27FC236}">
                <a16:creationId xmlns:a16="http://schemas.microsoft.com/office/drawing/2014/main" id="{5C8519CC-A661-08F7-2AFD-B8406629FFFC}"/>
              </a:ext>
            </a:extLst>
          </p:cNvPr>
          <p:cNvCxnSpPr/>
          <p:nvPr/>
        </p:nvCxnSpPr>
        <p:spPr>
          <a:xfrm flipV="1">
            <a:off x="522853" y="1586493"/>
            <a:ext cx="10274845" cy="1"/>
          </a:xfrm>
          <a:prstGeom prst="line">
            <a:avLst/>
          </a:prstGeom>
          <a:ln w="28575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9824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6467</TotalTime>
  <Words>892</Words>
  <Application>Microsoft Office PowerPoint</Application>
  <PresentationFormat>Widescreen</PresentationFormat>
  <Paragraphs>164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2" baseType="lpstr">
      <vt:lpstr>Adobe Gothic Std B</vt:lpstr>
      <vt:lpstr>Amelia BT</vt:lpstr>
      <vt:lpstr>Arial</vt:lpstr>
      <vt:lpstr>Calibri</vt:lpstr>
      <vt:lpstr>Calibri Light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Sérgio Michalovzkey</dc:creator>
  <cp:lastModifiedBy>Ana Paula Conrad</cp:lastModifiedBy>
  <cp:revision>166</cp:revision>
  <dcterms:created xsi:type="dcterms:W3CDTF">2016-10-01T17:34:39Z</dcterms:created>
  <dcterms:modified xsi:type="dcterms:W3CDTF">2026-02-24T13:16:23Z</dcterms:modified>
</cp:coreProperties>
</file>